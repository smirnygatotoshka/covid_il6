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5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Helvetica Neue" panose="020B0604020202020204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RSBke9q7jKuAsryZw5cyDmnT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9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76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481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3792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562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91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744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s://covid19.who.int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l="16557" t="12498" r="17419" b="41021"/>
          <a:stretch/>
        </p:blipFill>
        <p:spPr>
          <a:xfrm>
            <a:off x="50155" y="45346"/>
            <a:ext cx="3756162" cy="264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2110" y="339825"/>
            <a:ext cx="2082757" cy="250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870469" y="507942"/>
            <a:ext cx="1025532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ЛЕТНЯЯ ШКОЛА ИНСТИТУТА ПАСТЕРА «НАУКА — ВРАЧАМ БУДУЩЕГО»</a:t>
            </a:r>
            <a:r>
              <a:rPr lang="ru-RU" sz="2000" b="1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000" dirty="0"/>
          </a:p>
        </p:txBody>
      </p:sp>
      <p:sp>
        <p:nvSpPr>
          <p:cNvPr id="87" name="Google Shape;87;p1"/>
          <p:cNvSpPr/>
          <p:nvPr/>
        </p:nvSpPr>
        <p:spPr>
          <a:xfrm>
            <a:off x="-1" y="9258301"/>
            <a:ext cx="18288001" cy="566910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5819" y="9521267"/>
            <a:ext cx="18288000" cy="779199"/>
          </a:xfrm>
          <a:prstGeom prst="rect">
            <a:avLst/>
          </a:prstGeom>
          <a:solidFill>
            <a:srgbClr val="B1D4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bg2"/>
                </a:solidFill>
              </a:rPr>
              <a:t>2022 год</a:t>
            </a:r>
            <a:endParaRPr sz="2000" b="1" dirty="0">
              <a:solidFill>
                <a:schemeClr val="bg2"/>
              </a:solidFill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2422554" y="7784504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508401" y="7384288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720302" y="6923861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0" y="8298545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9">
            <a:alphaModFix amt="51000"/>
          </a:blip>
          <a:srcRect/>
          <a:stretch/>
        </p:blipFill>
        <p:spPr>
          <a:xfrm>
            <a:off x="1133204" y="8102522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886798" y="7784504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972645" y="7384288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5184546" y="6923861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3464244" y="8298545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9">
            <a:alphaModFix amt="51000"/>
          </a:blip>
          <a:srcRect/>
          <a:stretch/>
        </p:blipFill>
        <p:spPr>
          <a:xfrm>
            <a:off x="4597448" y="8102522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9159819" y="7798740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7245666" y="7398524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8457567" y="6938097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6737265" y="8312781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9">
            <a:alphaModFix amt="51000"/>
          </a:blip>
          <a:srcRect/>
          <a:stretch/>
        </p:blipFill>
        <p:spPr>
          <a:xfrm>
            <a:off x="7870469" y="8116758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2544225" y="7798740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630071" y="7398524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841972" y="6938097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10121670" y="8312781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9">
            <a:alphaModFix amt="51000"/>
          </a:blip>
          <a:srcRect/>
          <a:stretch/>
        </p:blipFill>
        <p:spPr>
          <a:xfrm>
            <a:off x="11254875" y="8116758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6016051" y="7784504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4101898" y="7384288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5313799" y="6923861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13593497" y="8298545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9">
            <a:alphaModFix amt="51000"/>
          </a:blip>
          <a:srcRect/>
          <a:stretch/>
        </p:blipFill>
        <p:spPr>
          <a:xfrm>
            <a:off x="14726701" y="8102522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7500986" y="7384288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8">
            <a:alphaModFix amt="51000"/>
          </a:blip>
          <a:srcRect/>
          <a:stretch/>
        </p:blipFill>
        <p:spPr>
          <a:xfrm>
            <a:off x="16992585" y="8298545"/>
            <a:ext cx="732967" cy="7329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61A5DF-6A1F-4BC7-B37C-23F3DCA2A9CD}"/>
              </a:ext>
            </a:extLst>
          </p:cNvPr>
          <p:cNvSpPr txBox="1"/>
          <p:nvPr/>
        </p:nvSpPr>
        <p:spPr>
          <a:xfrm>
            <a:off x="1140078" y="3582370"/>
            <a:ext cx="1542762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>
                <a:solidFill>
                  <a:schemeClr val="bg2"/>
                </a:solidFill>
              </a:rPr>
              <a:t>Сравнение концентраций ИЛ-6 в плазме больных </a:t>
            </a:r>
            <a:r>
              <a:rPr lang="en-US" sz="4000" b="1" dirty="0">
                <a:solidFill>
                  <a:schemeClr val="bg2"/>
                </a:solidFill>
              </a:rPr>
              <a:t>COVID-19</a:t>
            </a:r>
            <a:endParaRPr lang="ru-RU" sz="4000" b="1" dirty="0">
              <a:solidFill>
                <a:schemeClr val="bg2"/>
              </a:solidFill>
            </a:endParaRPr>
          </a:p>
          <a:p>
            <a:pPr algn="ctr"/>
            <a:r>
              <a:rPr lang="ru-RU" sz="4000" b="1" dirty="0">
                <a:solidFill>
                  <a:schemeClr val="bg2"/>
                </a:solidFill>
              </a:rPr>
              <a:t> в зависимости от исхода заболевания</a:t>
            </a:r>
          </a:p>
          <a:p>
            <a:pPr algn="ctr"/>
            <a:r>
              <a:rPr lang="ru-RU" sz="4000" b="1" dirty="0">
                <a:solidFill>
                  <a:schemeClr val="bg2"/>
                </a:solidFill>
              </a:rPr>
              <a:t>Смирнов Антон, РНИМУ им. Н.И. Пирогова</a:t>
            </a:r>
          </a:p>
          <a:p>
            <a:pPr algn="ctr"/>
            <a:endParaRPr lang="ru-RU" sz="4000" b="1" dirty="0">
              <a:solidFill>
                <a:schemeClr val="bg2"/>
              </a:solidFill>
            </a:endParaRPr>
          </a:p>
          <a:p>
            <a:pPr algn="ctr"/>
            <a:r>
              <a:rPr lang="ru-RU" sz="4000" dirty="0">
                <a:solidFill>
                  <a:schemeClr val="bg2"/>
                </a:solidFill>
              </a:rPr>
              <a:t>Лаборатория молекулярной иммунологии НИИЭМ им. Пастера</a:t>
            </a:r>
          </a:p>
          <a:p>
            <a:pPr algn="ctr"/>
            <a:endParaRPr lang="ru-RU" sz="4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Актуальность</a:t>
            </a:r>
            <a:endParaRPr sz="4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651DCC-A1BA-46B8-97B0-2BCE119D60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10" y="2233872"/>
            <a:ext cx="8942710" cy="518428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FBA8D2A-FF12-4E36-A079-DB26AA1FDE96}"/>
              </a:ext>
            </a:extLst>
          </p:cNvPr>
          <p:cNvSpPr txBox="1"/>
          <p:nvPr/>
        </p:nvSpPr>
        <p:spPr>
          <a:xfrm>
            <a:off x="217109" y="7604993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hlinkClick r:id="rId11"/>
              </a:rPr>
              <a:t>https://covid19.who.int/</a:t>
            </a:r>
            <a:r>
              <a:rPr lang="ru-RU" i="1" dirty="0"/>
              <a:t> Время обращения: 18.07.2022. 23:30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2AB02B-6974-40BA-827A-264E8A04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10" y="2233872"/>
            <a:ext cx="8942710" cy="520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EC0D74D-D0E0-49ED-8331-601A690D2A55}"/>
              </a:ext>
            </a:extLst>
          </p:cNvPr>
          <p:cNvSpPr txBox="1"/>
          <p:nvPr/>
        </p:nvSpPr>
        <p:spPr>
          <a:xfrm>
            <a:off x="9276510" y="7600264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/>
              <a:t>doi</a:t>
            </a:r>
            <a:r>
              <a:rPr lang="en-US" i="1" dirty="0"/>
              <a:t>: </a:t>
            </a:r>
            <a:r>
              <a:rPr lang="ru-RU" i="1" dirty="0"/>
              <a:t>10.3389/fimmu.2021.613422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Цели и задачи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C0789-D05D-406E-98CF-D0377415C729}"/>
              </a:ext>
            </a:extLst>
          </p:cNvPr>
          <p:cNvSpPr txBox="1"/>
          <p:nvPr/>
        </p:nvSpPr>
        <p:spPr>
          <a:xfrm>
            <a:off x="675693" y="2590503"/>
            <a:ext cx="166355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2"/>
                </a:solidFill>
              </a:rPr>
              <a:t>Цель. </a:t>
            </a:r>
            <a:r>
              <a:rPr lang="ru-RU" sz="4000" dirty="0">
                <a:solidFill>
                  <a:schemeClr val="bg2"/>
                </a:solidFill>
              </a:rPr>
              <a:t>Определение влияния концентрации ИЛ-6 на ранних этапах заболевания на потенциальный исход</a:t>
            </a:r>
          </a:p>
          <a:p>
            <a:endParaRPr lang="ru-RU" sz="4000" b="1" dirty="0">
              <a:solidFill>
                <a:schemeClr val="bg2"/>
              </a:solidFill>
            </a:endParaRPr>
          </a:p>
          <a:p>
            <a:r>
              <a:rPr lang="ru-RU" sz="4000" b="1" dirty="0">
                <a:solidFill>
                  <a:schemeClr val="bg2"/>
                </a:solidFill>
              </a:rPr>
              <a:t>Задачи.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Отобрать образцы по критериям включения/исключения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Разделить образцы на группы по исходу заболевания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Определить концентрацию ИЛ-6 в образцах</a:t>
            </a:r>
          </a:p>
        </p:txBody>
      </p:sp>
    </p:spTree>
    <p:extLst>
      <p:ext uri="{BB962C8B-B14F-4D97-AF65-F5344CB8AC3E}">
        <p14:creationId xmlns:p14="http://schemas.microsoft.com/office/powerpoint/2010/main" val="360738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Методы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C0789-D05D-406E-98CF-D0377415C729}"/>
              </a:ext>
            </a:extLst>
          </p:cNvPr>
          <p:cNvSpPr txBox="1"/>
          <p:nvPr/>
        </p:nvSpPr>
        <p:spPr>
          <a:xfrm>
            <a:off x="508401" y="2577051"/>
            <a:ext cx="53694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2"/>
                </a:solidFill>
              </a:rPr>
              <a:t>Критерии включения: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Возраст пациента 50-70 лет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Госпитализация на 5-10 сутки болезни</a:t>
            </a:r>
          </a:p>
          <a:p>
            <a:endParaRPr lang="ru-RU" sz="4000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2E4A1D-36BE-4037-9F1A-12B540C81967}"/>
              </a:ext>
            </a:extLst>
          </p:cNvPr>
          <p:cNvSpPr txBox="1"/>
          <p:nvPr/>
        </p:nvSpPr>
        <p:spPr>
          <a:xfrm>
            <a:off x="7380452" y="2525290"/>
            <a:ext cx="10838768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2"/>
                </a:solidFill>
              </a:rPr>
              <a:t>Критерии исключения: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Не вакцинирован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Не «омикрон»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Отсутствие беременности, онкологических заболеваний, иммунодефицитных состояний, хронических заболеваний в стадии обострения, аутоиммунных заболеваний, гепатита </a:t>
            </a:r>
            <a:r>
              <a:rPr lang="en-US" sz="4000" dirty="0">
                <a:solidFill>
                  <a:schemeClr val="bg2"/>
                </a:solidFill>
              </a:rPr>
              <a:t>B, C, </a:t>
            </a:r>
            <a:r>
              <a:rPr lang="ru-RU" sz="4000" dirty="0">
                <a:solidFill>
                  <a:schemeClr val="bg2"/>
                </a:solidFill>
              </a:rPr>
              <a:t>ВИЧ.</a:t>
            </a:r>
          </a:p>
          <a:p>
            <a:endParaRPr lang="ru-RU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3" y="8291945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44477" y="8609670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Методы</a:t>
            </a:r>
            <a:endParaRPr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53E2CA-8E80-4052-9F9B-040B29D48FD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546" t="10956" r="8580" b="7753"/>
          <a:stretch/>
        </p:blipFill>
        <p:spPr>
          <a:xfrm>
            <a:off x="11979936" y="2124328"/>
            <a:ext cx="5752578" cy="6459384"/>
          </a:xfrm>
          <a:prstGeom prst="rect">
            <a:avLst/>
          </a:prstGeom>
        </p:spPr>
      </p:pic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37CAF2C-178C-460F-A29E-DC75C081A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83297"/>
              </p:ext>
            </p:extLst>
          </p:nvPr>
        </p:nvGraphicFramePr>
        <p:xfrm>
          <a:off x="112036" y="2322345"/>
          <a:ext cx="9695884" cy="3608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314">
                  <a:extLst>
                    <a:ext uri="{9D8B030D-6E8A-4147-A177-3AD203B41FA5}">
                      <a16:colId xmlns:a16="http://schemas.microsoft.com/office/drawing/2014/main" val="1243084544"/>
                    </a:ext>
                  </a:extLst>
                </a:gridCol>
                <a:gridCol w="2815609">
                  <a:extLst>
                    <a:ext uri="{9D8B030D-6E8A-4147-A177-3AD203B41FA5}">
                      <a16:colId xmlns:a16="http://schemas.microsoft.com/office/drawing/2014/main" val="1550379512"/>
                    </a:ext>
                  </a:extLst>
                </a:gridCol>
                <a:gridCol w="3231961">
                  <a:extLst>
                    <a:ext uri="{9D8B030D-6E8A-4147-A177-3AD203B41FA5}">
                      <a16:colId xmlns:a16="http://schemas.microsoft.com/office/drawing/2014/main" val="3463549938"/>
                    </a:ext>
                  </a:extLst>
                </a:gridCol>
              </a:tblGrid>
              <a:tr h="847166">
                <a:tc>
                  <a:txBody>
                    <a:bodyPr/>
                    <a:lstStyle/>
                    <a:p>
                      <a:r>
                        <a:rPr lang="ru-RU" sz="3200" dirty="0"/>
                        <a:t>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Мужчины</a:t>
                      </a:r>
                      <a:endParaRPr lang="en-US" sz="3200" dirty="0"/>
                    </a:p>
                    <a:p>
                      <a:r>
                        <a:rPr lang="en-US" sz="3200" dirty="0"/>
                        <a:t>(n = 21)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Женщины</a:t>
                      </a:r>
                      <a:endParaRPr lang="en-US" sz="3200" dirty="0"/>
                    </a:p>
                    <a:p>
                      <a:r>
                        <a:rPr lang="en-US" sz="3200" dirty="0"/>
                        <a:t>(n = 24)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494101"/>
                  </a:ext>
                </a:extLst>
              </a:tr>
              <a:tr h="847166">
                <a:tc>
                  <a:txBody>
                    <a:bodyPr/>
                    <a:lstStyle/>
                    <a:p>
                      <a:r>
                        <a:rPr lang="ru-RU" sz="3200" dirty="0"/>
                        <a:t>Выписка (</a:t>
                      </a:r>
                      <a:r>
                        <a:rPr lang="en-US" sz="3200" dirty="0"/>
                        <a:t>n = 20</a:t>
                      </a:r>
                      <a:r>
                        <a:rPr lang="ru-RU" sz="3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11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553767"/>
                  </a:ext>
                </a:extLst>
              </a:tr>
              <a:tr h="847166">
                <a:tc>
                  <a:txBody>
                    <a:bodyPr/>
                    <a:lstStyle/>
                    <a:p>
                      <a:r>
                        <a:rPr lang="ru-RU" sz="3200" dirty="0"/>
                        <a:t>Смерть (</a:t>
                      </a:r>
                      <a:r>
                        <a:rPr lang="en-US" sz="3200" dirty="0"/>
                        <a:t>n = 17</a:t>
                      </a:r>
                      <a:r>
                        <a:rPr lang="ru-RU" sz="3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446790"/>
                  </a:ext>
                </a:extLst>
              </a:tr>
              <a:tr h="847166">
                <a:tc>
                  <a:txBody>
                    <a:bodyPr/>
                    <a:lstStyle/>
                    <a:p>
                      <a:r>
                        <a:rPr lang="ru-RU" sz="3200" dirty="0"/>
                        <a:t>Здоровые (</a:t>
                      </a:r>
                      <a:r>
                        <a:rPr lang="en-US" sz="3200" dirty="0"/>
                        <a:t>n = 8</a:t>
                      </a:r>
                      <a:r>
                        <a:rPr lang="ru-RU" sz="3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3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5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89676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0F41D13E-C69E-46EF-83EF-87CCC5DBB0BE}"/>
              </a:ext>
            </a:extLst>
          </p:cNvPr>
          <p:cNvSpPr txBox="1"/>
          <p:nvPr/>
        </p:nvSpPr>
        <p:spPr>
          <a:xfrm>
            <a:off x="112036" y="6309354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ИФА проводилось на наборе Интерлейкин-6-ИФА-БЕСТ (Вектор Бест, Новосибирск, Россия) в соответствии с инструкцией производителя</a:t>
            </a:r>
          </a:p>
        </p:txBody>
      </p:sp>
    </p:spTree>
    <p:extLst>
      <p:ext uri="{BB962C8B-B14F-4D97-AF65-F5344CB8AC3E}">
        <p14:creationId xmlns:p14="http://schemas.microsoft.com/office/powerpoint/2010/main" val="28700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0" i="0" u="none" strike="noStrike" cap="none" dirty="0">
                <a:solidFill>
                  <a:srgbClr val="203A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Результаты</a:t>
            </a:r>
            <a:endParaRPr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90138E-9527-49B8-B355-1B50FEFE01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9409" y="1261244"/>
            <a:ext cx="7436110" cy="8923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DEBB4-8FBF-4848-8074-38F09D0B80ED}"/>
              </a:ext>
            </a:extLst>
          </p:cNvPr>
          <p:cNvSpPr txBox="1"/>
          <p:nvPr/>
        </p:nvSpPr>
        <p:spPr>
          <a:xfrm>
            <a:off x="6737266" y="2679686"/>
            <a:ext cx="52426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X – &lt;[</a:t>
            </a:r>
            <a:r>
              <a:rPr lang="ru-RU" sz="3600" dirty="0"/>
              <a:t>ИЛ-6</a:t>
            </a:r>
            <a:r>
              <a:rPr lang="en-US" sz="3600" dirty="0"/>
              <a:t>]&gt; </a:t>
            </a:r>
            <a:r>
              <a:rPr lang="ru-RU" sz="3600" dirty="0"/>
              <a:t>больных</a:t>
            </a:r>
            <a:endParaRPr lang="en-US" sz="3600" dirty="0"/>
          </a:p>
          <a:p>
            <a:r>
              <a:rPr lang="en-US" sz="3600" dirty="0"/>
              <a:t>Y – &lt;[</a:t>
            </a:r>
            <a:r>
              <a:rPr lang="ru-RU" sz="3600" dirty="0"/>
              <a:t>ИЛ-6</a:t>
            </a:r>
            <a:r>
              <a:rPr lang="en-US" sz="3600" dirty="0"/>
              <a:t>]&gt; </a:t>
            </a:r>
            <a:r>
              <a:rPr lang="ru-RU" sz="3600" dirty="0"/>
              <a:t>здоровых</a:t>
            </a:r>
            <a:endParaRPr lang="en-US" sz="3600" dirty="0"/>
          </a:p>
          <a:p>
            <a:r>
              <a:rPr lang="en-US" sz="3600" dirty="0"/>
              <a:t>H0:</a:t>
            </a:r>
            <a:r>
              <a:rPr lang="ru-RU" sz="3600" dirty="0"/>
              <a:t> </a:t>
            </a:r>
            <a:r>
              <a:rPr lang="en-US" sz="3600" dirty="0"/>
              <a:t>X &gt; Y</a:t>
            </a:r>
          </a:p>
          <a:p>
            <a:r>
              <a:rPr lang="en-US" sz="3600" dirty="0"/>
              <a:t>H1: X &lt;= Y</a:t>
            </a:r>
          </a:p>
          <a:p>
            <a:r>
              <a:rPr lang="en-US" sz="3600" dirty="0"/>
              <a:t>U = 282,0</a:t>
            </a:r>
          </a:p>
          <a:p>
            <a:r>
              <a:rPr lang="en-US" sz="3600" dirty="0"/>
              <a:t>P-value = 3</a:t>
            </a:r>
            <a:r>
              <a:rPr lang="ru-RU" sz="3600" dirty="0"/>
              <a:t>,69</a:t>
            </a:r>
            <a:r>
              <a:rPr lang="en-US" sz="3600" dirty="0"/>
              <a:t>e-5</a:t>
            </a:r>
          </a:p>
          <a:p>
            <a:r>
              <a:rPr lang="ru-RU" sz="3600" dirty="0"/>
              <a:t>Критерий Манна-Уитни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FDDD78-6320-47A2-AC8B-92B2565E393C}"/>
              </a:ext>
            </a:extLst>
          </p:cNvPr>
          <p:cNvSpPr txBox="1"/>
          <p:nvPr/>
        </p:nvSpPr>
        <p:spPr>
          <a:xfrm>
            <a:off x="11841972" y="2679686"/>
            <a:ext cx="919176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X – &lt;[</a:t>
            </a:r>
            <a:r>
              <a:rPr lang="ru-RU" sz="3600" dirty="0"/>
              <a:t>ИЛ-6</a:t>
            </a:r>
            <a:r>
              <a:rPr lang="en-US" sz="3600" dirty="0"/>
              <a:t>]&gt; </a:t>
            </a:r>
            <a:r>
              <a:rPr lang="ru-RU" sz="3600" dirty="0"/>
              <a:t>умерших</a:t>
            </a:r>
            <a:endParaRPr lang="en-US" sz="3600" dirty="0"/>
          </a:p>
          <a:p>
            <a:r>
              <a:rPr lang="en-US" sz="3600" dirty="0"/>
              <a:t>Y – &lt;[</a:t>
            </a:r>
            <a:r>
              <a:rPr lang="ru-RU" sz="3600" dirty="0"/>
              <a:t>ИЛ-6</a:t>
            </a:r>
            <a:r>
              <a:rPr lang="en-US" sz="3600" dirty="0"/>
              <a:t>]&gt; </a:t>
            </a:r>
            <a:r>
              <a:rPr lang="ru-RU" sz="3600" dirty="0"/>
              <a:t>выживших</a:t>
            </a:r>
            <a:endParaRPr lang="en-US" sz="3600" dirty="0"/>
          </a:p>
          <a:p>
            <a:r>
              <a:rPr lang="en-US" sz="3600" dirty="0"/>
              <a:t>H0:</a:t>
            </a:r>
            <a:r>
              <a:rPr lang="ru-RU" sz="3600" dirty="0"/>
              <a:t> </a:t>
            </a:r>
            <a:r>
              <a:rPr lang="en-US" sz="3600" dirty="0"/>
              <a:t>X &gt; Y</a:t>
            </a:r>
          </a:p>
          <a:p>
            <a:r>
              <a:rPr lang="en-US" sz="3600" dirty="0"/>
              <a:t>H1: X &lt;= Y</a:t>
            </a:r>
          </a:p>
          <a:p>
            <a:r>
              <a:rPr lang="en-US" sz="3600" dirty="0"/>
              <a:t>U = </a:t>
            </a:r>
            <a:r>
              <a:rPr lang="ru-RU" sz="3600" dirty="0"/>
              <a:t>190</a:t>
            </a:r>
            <a:r>
              <a:rPr lang="en-US" sz="3600" dirty="0"/>
              <a:t>,</a:t>
            </a:r>
            <a:r>
              <a:rPr lang="ru-RU" sz="3600" dirty="0"/>
              <a:t>5</a:t>
            </a:r>
            <a:endParaRPr lang="en-US" sz="3600" dirty="0"/>
          </a:p>
          <a:p>
            <a:r>
              <a:rPr lang="en-US" sz="3600" dirty="0"/>
              <a:t>P-value = </a:t>
            </a:r>
            <a:r>
              <a:rPr lang="ru-RU" sz="3600" dirty="0"/>
              <a:t>0,27</a:t>
            </a:r>
          </a:p>
          <a:p>
            <a:r>
              <a:rPr lang="ru-RU" sz="3600" dirty="0"/>
              <a:t>Критерий Манна-Уитни</a:t>
            </a:r>
          </a:p>
          <a:p>
            <a:r>
              <a:rPr lang="en-US" sz="1400" dirty="0"/>
              <a:t>: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734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203A68"/>
                </a:solidFill>
                <a:latin typeface="Helvetica Neue"/>
                <a:sym typeface="Helvetica Neue"/>
              </a:rPr>
              <a:t>Выводы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C0789-D05D-406E-98CF-D0377415C729}"/>
              </a:ext>
            </a:extLst>
          </p:cNvPr>
          <p:cNvSpPr txBox="1"/>
          <p:nvPr/>
        </p:nvSpPr>
        <p:spPr>
          <a:xfrm>
            <a:off x="675693" y="2590503"/>
            <a:ext cx="166355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ИЛ-6 участвует в воспалительном процессе при </a:t>
            </a:r>
            <a:r>
              <a:rPr lang="en-US" sz="4000" dirty="0">
                <a:solidFill>
                  <a:schemeClr val="bg2"/>
                </a:solidFill>
              </a:rPr>
              <a:t>COVID-19</a:t>
            </a:r>
            <a:r>
              <a:rPr lang="ru-RU" sz="4000" dirty="0">
                <a:solidFill>
                  <a:schemeClr val="bg2"/>
                </a:solidFill>
              </a:rPr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По результатам работы на ранних этапах заболевания невозможно спрогнозировать исход заболевания исключительно по концентрации ИЛ-6 в плазме. </a:t>
            </a:r>
          </a:p>
          <a:p>
            <a:r>
              <a:rPr lang="ru-RU" sz="4000" dirty="0">
                <a:solidFill>
                  <a:schemeClr val="bg2"/>
                </a:solidFill>
              </a:rPr>
              <a:t> </a:t>
            </a:r>
          </a:p>
          <a:p>
            <a:endParaRPr lang="ru-RU" sz="4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9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2020289"/>
            <a:ext cx="18288000" cy="147563"/>
          </a:xfrm>
          <a:prstGeom prst="rect">
            <a:avLst/>
          </a:prstGeom>
          <a:solidFill>
            <a:srgbClr val="203A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2422554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508401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720302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0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33204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5886798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3972645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5184546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3464244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4597448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9159819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7245666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8457567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6737265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7870469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2544225" y="9039992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0630071" y="8639776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1841972" y="8179349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0121670" y="9554033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1254875" y="9358009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16016051" y="9025756"/>
            <a:ext cx="838863" cy="838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4101898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 amt="51000"/>
          </a:blip>
          <a:srcRect/>
          <a:stretch/>
        </p:blipFill>
        <p:spPr>
          <a:xfrm>
            <a:off x="15313799" y="8165113"/>
            <a:ext cx="860643" cy="86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3593497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"/>
          <p:cNvPicPr preferRelativeResize="0"/>
          <p:nvPr/>
        </p:nvPicPr>
        <p:blipFill rotWithShape="1">
          <a:blip r:embed="rId7">
            <a:alphaModFix amt="51000"/>
          </a:blip>
          <a:srcRect/>
          <a:stretch/>
        </p:blipFill>
        <p:spPr>
          <a:xfrm>
            <a:off x="14726701" y="9343774"/>
            <a:ext cx="725061" cy="72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/>
          <p:cNvPicPr preferRelativeResize="0"/>
          <p:nvPr/>
        </p:nvPicPr>
        <p:blipFill rotWithShape="1">
          <a:blip r:embed="rId4">
            <a:alphaModFix amt="51000"/>
          </a:blip>
          <a:srcRect/>
          <a:stretch/>
        </p:blipFill>
        <p:spPr>
          <a:xfrm>
            <a:off x="17500986" y="8625540"/>
            <a:ext cx="718234" cy="718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"/>
          <p:cNvPicPr preferRelativeResize="0"/>
          <p:nvPr/>
        </p:nvPicPr>
        <p:blipFill rotWithShape="1">
          <a:blip r:embed="rId6">
            <a:alphaModFix amt="51000"/>
          </a:blip>
          <a:srcRect/>
          <a:stretch/>
        </p:blipFill>
        <p:spPr>
          <a:xfrm>
            <a:off x="16992585" y="9539797"/>
            <a:ext cx="732967" cy="73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/>
          <p:cNvPicPr preferRelativeResize="0"/>
          <p:nvPr/>
        </p:nvPicPr>
        <p:blipFill rotWithShape="1">
          <a:blip r:embed="rId8">
            <a:alphaModFix/>
          </a:blip>
          <a:srcRect l="16557" t="12498" r="17419" b="41021"/>
          <a:stretch/>
        </p:blipFill>
        <p:spPr>
          <a:xfrm>
            <a:off x="878333" y="414286"/>
            <a:ext cx="1868782" cy="13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47114" y="481685"/>
            <a:ext cx="1036222" cy="12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61;p3">
            <a:extLst>
              <a:ext uri="{FF2B5EF4-FFF2-40B4-BE49-F238E27FC236}">
                <a16:creationId xmlns:a16="http://schemas.microsoft.com/office/drawing/2014/main" id="{4A683D8C-5D27-4413-8917-F49074B29C89}"/>
              </a:ext>
            </a:extLst>
          </p:cNvPr>
          <p:cNvSpPr txBox="1"/>
          <p:nvPr/>
        </p:nvSpPr>
        <p:spPr>
          <a:xfrm>
            <a:off x="4796499" y="645406"/>
            <a:ext cx="818277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rgbClr val="203A68"/>
                </a:solidFill>
                <a:latin typeface="Helvetica Neue"/>
                <a:sym typeface="Helvetica Neue"/>
              </a:rPr>
              <a:t>Заключение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C0789-D05D-406E-98CF-D0377415C729}"/>
              </a:ext>
            </a:extLst>
          </p:cNvPr>
          <p:cNvSpPr txBox="1"/>
          <p:nvPr/>
        </p:nvSpPr>
        <p:spPr>
          <a:xfrm>
            <a:off x="675693" y="2590503"/>
            <a:ext cx="1663556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2"/>
                </a:solidFill>
              </a:rPr>
              <a:t>Как можно улучшить исследование?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Смотреть уровень других цитокинов: про и противовоспалительных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Смотреть уровень цитокинов в динамике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4000" dirty="0">
                <a:solidFill>
                  <a:schemeClr val="bg2"/>
                </a:solidFill>
              </a:rPr>
              <a:t>Смотреть уровень цитокинов при других </a:t>
            </a:r>
            <a:r>
              <a:rPr lang="ru-RU" sz="4000" dirty="0" err="1">
                <a:solidFill>
                  <a:schemeClr val="bg2"/>
                </a:solidFill>
              </a:rPr>
              <a:t>геновариантах</a:t>
            </a:r>
            <a:endParaRPr lang="ru-RU" sz="4000" dirty="0">
              <a:solidFill>
                <a:schemeClr val="bg2"/>
              </a:solidFill>
            </a:endParaRPr>
          </a:p>
          <a:p>
            <a:endParaRPr lang="ru-RU" sz="4000" dirty="0">
              <a:solidFill>
                <a:schemeClr val="bg2"/>
              </a:solidFill>
            </a:endParaRPr>
          </a:p>
          <a:p>
            <a:r>
              <a:rPr lang="ru-RU" sz="4000" dirty="0">
                <a:solidFill>
                  <a:schemeClr val="bg2"/>
                </a:solidFill>
              </a:rPr>
              <a:t>Выражаю огромную благодарность куратору проекта Зое Коробовой и всему орг. комитету Летней школы</a:t>
            </a:r>
          </a:p>
          <a:p>
            <a:endParaRPr lang="ru-RU" sz="4000" dirty="0">
              <a:solidFill>
                <a:schemeClr val="bg2"/>
              </a:solidFill>
            </a:endParaRPr>
          </a:p>
          <a:p>
            <a:endParaRPr lang="ru-RU" sz="4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4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338</Words>
  <Application>Microsoft Office PowerPoint</Application>
  <PresentationFormat>Произвольный</PresentationFormat>
  <Paragraphs>68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Антон Смирнов</cp:lastModifiedBy>
  <cp:revision>6</cp:revision>
  <dcterms:created xsi:type="dcterms:W3CDTF">2006-08-16T00:00:00Z</dcterms:created>
  <dcterms:modified xsi:type="dcterms:W3CDTF">2022-07-18T18:34:36Z</dcterms:modified>
</cp:coreProperties>
</file>